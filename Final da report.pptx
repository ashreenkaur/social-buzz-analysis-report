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5" r:id="rId12"/>
    <p:sldId id="266" r:id="rId13"/>
  </p:sldIdLst>
  <p:sldSz cx="18288000" cy="10287000"/>
  <p:notesSz cx="6858000" cy="9144000"/>
  <p:embeddedFontLst>
    <p:embeddedFont>
      <p:font typeface="Clear Sans Regular Bold" panose="020B0604020202020204" charset="0"/>
      <p:regular r:id="rId15"/>
    </p:embeddedFont>
    <p:embeddedFont>
      <p:font typeface="DM Sans" pitchFamily="2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0FF"/>
    <a:srgbClr val="883C84"/>
    <a:srgbClr val="461B49"/>
    <a:srgbClr val="963488"/>
    <a:srgbClr val="2831A2"/>
    <a:srgbClr val="2086AA"/>
    <a:srgbClr val="1994B1"/>
    <a:srgbClr val="00B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279" autoAdjust="0"/>
    <p:restoredTop sz="73146" autoAdjust="0"/>
  </p:normalViewPr>
  <p:slideViewPr>
    <p:cSldViewPr>
      <p:cViewPr varScale="1">
        <p:scale>
          <a:sx n="47" d="100"/>
          <a:sy n="47" d="100"/>
        </p:scale>
        <p:origin x="466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4730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5622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6.svg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1.jpeg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94731" y="0"/>
            <a:ext cx="1893269" cy="10287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3" name="Group 3"/>
          <p:cNvGrpSpPr/>
          <p:nvPr/>
        </p:nvGrpSpPr>
        <p:grpSpPr>
          <a:xfrm>
            <a:off x="6545735" y="406153"/>
            <a:ext cx="10042534" cy="9474693"/>
            <a:chOff x="0" y="0"/>
            <a:chExt cx="13390046" cy="12632924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0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3279405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6558809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9838214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9838214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0"/>
              <a:ext cx="3005065" cy="2794710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3279405"/>
              <a:ext cx="3005065" cy="2794710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6558809"/>
              <a:ext cx="3005065" cy="2794710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1260437" y="1714500"/>
            <a:ext cx="8750843" cy="8318192"/>
            <a:chOff x="0" y="0"/>
            <a:chExt cx="11667791" cy="11090922"/>
          </a:xfrm>
        </p:grpSpPr>
        <p:grpSp>
          <p:nvGrpSpPr>
            <p:cNvPr id="21" name="Group 21"/>
            <p:cNvGrpSpPr>
              <a:grpSpLocks noChangeAspect="1"/>
            </p:cNvGrpSpPr>
            <p:nvPr/>
          </p:nvGrpSpPr>
          <p:grpSpPr>
            <a:xfrm>
              <a:off x="1931835" y="1354967"/>
              <a:ext cx="9735956" cy="9735956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AU" dirty="0"/>
              </a:p>
            </p:txBody>
          </p:sp>
        </p:grpSp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96140" y="376277"/>
              <a:ext cx="9735956" cy="9756713"/>
            </a:xfrm>
            <a:prstGeom prst="rect">
              <a:avLst/>
            </a:prstGeom>
          </p:spPr>
        </p:pic>
      </p:grpSp>
      <p:sp>
        <p:nvSpPr>
          <p:cNvPr id="24" name="TextBox 24"/>
          <p:cNvSpPr txBox="1"/>
          <p:nvPr/>
        </p:nvSpPr>
        <p:spPr>
          <a:xfrm>
            <a:off x="2312375" y="3305349"/>
            <a:ext cx="5482998" cy="427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59"/>
              </a:lnSpc>
            </a:pPr>
            <a:r>
              <a:rPr lang="en-US" sz="10533" spc="-105" dirty="0">
                <a:solidFill>
                  <a:srgbClr val="FFFFFF"/>
                </a:solidFill>
                <a:latin typeface="Graphik Regular" panose="020B0503030202060203" pitchFamily="34" charset="0"/>
              </a:rPr>
              <a:t>DATA ANALYSIS</a:t>
            </a:r>
          </a:p>
          <a:p>
            <a:pPr algn="ctr">
              <a:lnSpc>
                <a:spcPts val="11059"/>
              </a:lnSpc>
            </a:pPr>
            <a:r>
              <a:rPr lang="en-US" sz="10533" spc="-105" dirty="0">
                <a:solidFill>
                  <a:srgbClr val="FFFFFF"/>
                </a:solidFill>
                <a:latin typeface="Graphik Regular" panose="020B0503030202060203" pitchFamily="34" charset="0"/>
              </a:rPr>
              <a:t>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1591" y="3285301"/>
            <a:ext cx="8673443" cy="3762839"/>
            <a:chOff x="0" y="0"/>
            <a:chExt cx="11564591" cy="5017118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1564591" cy="1641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8000" spc="-80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Today's agenda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298167"/>
              <a:ext cx="11564591" cy="27189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Project recap</a:t>
              </a:r>
            </a:p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Problem</a:t>
              </a:r>
            </a:p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The Analytics team</a:t>
              </a:r>
            </a:p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Process</a:t>
              </a:r>
            </a:p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Insights</a:t>
              </a:r>
            </a:p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Summary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07242" y="-1685151"/>
            <a:ext cx="3545508" cy="3370302"/>
            <a:chOff x="0" y="0"/>
            <a:chExt cx="4727344" cy="4493736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13610070" y="3458349"/>
            <a:ext cx="3545508" cy="3370302"/>
            <a:chOff x="0" y="0"/>
            <a:chExt cx="4727344" cy="4493736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11912898" y="8601849"/>
            <a:ext cx="3545508" cy="3370302"/>
            <a:chOff x="0" y="0"/>
            <a:chExt cx="4727344" cy="4493736"/>
          </a:xfrm>
        </p:grpSpPr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-927557" y="406153"/>
            <a:ext cx="2253799" cy="9474693"/>
            <a:chOff x="0" y="0"/>
            <a:chExt cx="3005065" cy="12632924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7113" y="584601"/>
            <a:ext cx="17253775" cy="9117799"/>
            <a:chOff x="0" y="0"/>
            <a:chExt cx="23005033" cy="1215706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3155875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6311751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9467626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3155875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6311751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9467626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3155875"/>
              <a:ext cx="2891870" cy="2689439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6311751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9467626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3155875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6311751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9467626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3155875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6311751"/>
              <a:ext cx="2891870" cy="2689439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9467626"/>
              <a:ext cx="2891870" cy="2689439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3155875"/>
              <a:ext cx="2891870" cy="2689439"/>
            </a:xfrm>
            <a:prstGeom prst="rect">
              <a:avLst/>
            </a:prstGeom>
          </p:spPr>
        </p:pic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6311751"/>
              <a:ext cx="2891870" cy="2689439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9467626"/>
              <a:ext cx="2891870" cy="2689439"/>
            </a:xfrm>
            <a:prstGeom prst="rect">
              <a:avLst/>
            </a:prstGeom>
          </p:spPr>
        </p:pic>
        <p:pic>
          <p:nvPicPr>
            <p:cNvPr id="27" name="Picture 2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155875"/>
              <a:ext cx="2891870" cy="2689439"/>
            </a:xfrm>
            <a:prstGeom prst="rect">
              <a:avLst/>
            </a:prstGeom>
          </p:spPr>
        </p:pic>
        <p:pic>
          <p:nvPicPr>
            <p:cNvPr id="29" name="Picture 2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311751"/>
              <a:ext cx="2891870" cy="2689439"/>
            </a:xfrm>
            <a:prstGeom prst="rect">
              <a:avLst/>
            </a:prstGeom>
          </p:spPr>
        </p:pic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467626"/>
              <a:ext cx="2891870" cy="2689439"/>
            </a:xfrm>
            <a:prstGeom prst="rect">
              <a:avLst/>
            </a:prstGeom>
          </p:spPr>
        </p:pic>
      </p:grpSp>
      <p:sp>
        <p:nvSpPr>
          <p:cNvPr id="31" name="AutoShape 31"/>
          <p:cNvSpPr/>
          <p:nvPr/>
        </p:nvSpPr>
        <p:spPr>
          <a:xfrm>
            <a:off x="4946896" y="2005584"/>
            <a:ext cx="11342283" cy="6275832"/>
          </a:xfrm>
          <a:prstGeom prst="rect">
            <a:avLst/>
          </a:prstGeom>
          <a:solidFill>
            <a:schemeClr val="bg1"/>
          </a:solidFill>
        </p:spPr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321"/>
          <a:stretch>
            <a:fillRect/>
          </a:stretch>
        </p:blipFill>
        <p:spPr>
          <a:xfrm rot="10799999">
            <a:off x="1983048" y="1909668"/>
            <a:ext cx="6453903" cy="6467663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2969013" y="3935700"/>
            <a:ext cx="4481973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Project Recap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CAF046-1A34-D613-20A6-D85108DB9627}"/>
              </a:ext>
            </a:extLst>
          </p:cNvPr>
          <p:cNvSpPr txBox="1"/>
          <p:nvPr/>
        </p:nvSpPr>
        <p:spPr>
          <a:xfrm>
            <a:off x="7892665" y="2247900"/>
            <a:ext cx="8730870" cy="984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  CLIENT NAME: SOCIAL BUZZ</a:t>
            </a:r>
          </a:p>
          <a:p>
            <a:pPr algn="ctr"/>
            <a:r>
              <a:rPr lang="en-IN" sz="2800" b="1" dirty="0"/>
              <a:t>INDUSTRY: CONTENT CREATION</a:t>
            </a:r>
          </a:p>
          <a:p>
            <a:endParaRPr lang="en-IN" sz="2800" dirty="0"/>
          </a:p>
          <a:p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An audit of their big data practice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Recommendations for a successful IPO</a:t>
            </a:r>
          </a:p>
          <a:p>
            <a:r>
              <a:rPr lang="en-US" sz="3200" dirty="0"/>
              <a:t> </a:t>
            </a:r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An analysis of their content categories that highlights the top 5 categories with the largest aggregate popularity </a:t>
            </a:r>
            <a:endParaRPr lang="en-IN" sz="32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8195696"/>
            <a:ext cx="3545508" cy="3370302"/>
            <a:chOff x="0" y="0"/>
            <a:chExt cx="4727344" cy="4493736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sp>
        <p:nvSpPr>
          <p:cNvPr id="6" name="AutoShape 6"/>
          <p:cNvSpPr/>
          <p:nvPr/>
        </p:nvSpPr>
        <p:spPr>
          <a:xfrm>
            <a:off x="1281071" y="27744"/>
            <a:ext cx="9964482" cy="10287000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txBody>
          <a:bodyPr/>
          <a:lstStyle/>
          <a:p>
            <a:endParaRPr lang="en-AU" dirty="0"/>
          </a:p>
        </p:txBody>
      </p:sp>
      <p:grpSp>
        <p:nvGrpSpPr>
          <p:cNvPr id="7" name="Group 7"/>
          <p:cNvGrpSpPr/>
          <p:nvPr/>
        </p:nvGrpSpPr>
        <p:grpSpPr>
          <a:xfrm>
            <a:off x="-146279" y="406153"/>
            <a:ext cx="2253799" cy="9474693"/>
            <a:chOff x="0" y="0"/>
            <a:chExt cx="3005065" cy="12632924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388213" y="416079"/>
            <a:ext cx="3438614" cy="3297100"/>
            <a:chOff x="0" y="154662"/>
            <a:chExt cx="4584818" cy="4396135"/>
          </a:xfrm>
        </p:grpSpPr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656398"/>
              <a:ext cx="3894399" cy="3894399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963488"/>
              </a:solidFill>
            </p:spPr>
            <p:txBody>
              <a:bodyPr/>
              <a:lstStyle/>
              <a:p>
                <a:endParaRPr lang="en-AU" dirty="0"/>
              </a:p>
            </p:txBody>
          </p:sp>
        </p:grpSp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321"/>
            <a:stretch>
              <a:fillRect/>
            </a:stretch>
          </p:blipFill>
          <p:spPr>
            <a:xfrm rot="16484543">
              <a:off x="686267" y="150511"/>
              <a:ext cx="3894400" cy="3902702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15986267" y="-1061348"/>
            <a:ext cx="3545508" cy="3370302"/>
            <a:chOff x="0" y="0"/>
            <a:chExt cx="4727344" cy="4493736"/>
          </a:xfrm>
        </p:grpSpPr>
        <p:grpSp>
          <p:nvGrpSpPr>
            <p:cNvPr id="17" name="Group 17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rcRect l="24693" r="24693"/>
          <a:stretch>
            <a:fillRect/>
          </a:stretch>
        </p:blipFill>
        <p:spPr>
          <a:xfrm>
            <a:off x="11252114" y="1056444"/>
            <a:ext cx="6251816" cy="82296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2405165" y="1077848"/>
            <a:ext cx="578686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Problem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2E266E-4E78-68C4-7157-126709E628EA}"/>
              </a:ext>
            </a:extLst>
          </p:cNvPr>
          <p:cNvSpPr txBox="1"/>
          <p:nvPr/>
        </p:nvSpPr>
        <p:spPr>
          <a:xfrm>
            <a:off x="2242982" y="2994397"/>
            <a:ext cx="943505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0" i="0" dirty="0">
                <a:solidFill>
                  <a:schemeClr val="bg1"/>
                </a:solidFill>
                <a:effectLst/>
                <a:latin typeface="DM Sans" pitchFamily="2" charset="0"/>
              </a:rPr>
              <a:t>The client has reached a massive scale in recent years and does not have the internal resources to handle it.</a:t>
            </a:r>
          </a:p>
          <a:p>
            <a:endParaRPr lang="en-US" sz="4400" dirty="0">
              <a:solidFill>
                <a:schemeClr val="bg1"/>
              </a:solidFill>
              <a:latin typeface="DM San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DM San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DM Sans" pitchFamily="2" charset="0"/>
              </a:rPr>
              <a:t>Finding Social Buzz’s top 5 categories</a:t>
            </a:r>
            <a:endParaRPr lang="en-IN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6723" y="406153"/>
            <a:ext cx="9939843" cy="9474693"/>
            <a:chOff x="0" y="0"/>
            <a:chExt cx="13253124" cy="1263292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16020" y="0"/>
              <a:ext cx="3005065" cy="279471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16020" y="9838214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832040" y="0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832040" y="9838214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0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3279405"/>
              <a:ext cx="3005065" cy="279471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6558809"/>
              <a:ext cx="3005065" cy="2794710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9838214"/>
              <a:ext cx="3005065" cy="2794710"/>
            </a:xfrm>
            <a:prstGeom prst="rect">
              <a:avLst/>
            </a:prstGeom>
          </p:spPr>
        </p:pic>
      </p:grpSp>
      <p:sp>
        <p:nvSpPr>
          <p:cNvPr id="15" name="AutoShape 15"/>
          <p:cNvSpPr/>
          <p:nvPr/>
        </p:nvSpPr>
        <p:spPr>
          <a:xfrm>
            <a:off x="2110745" y="1825527"/>
            <a:ext cx="6750815" cy="6635945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1617850" y="6780493"/>
            <a:ext cx="2085137" cy="2085137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1384981" y="6667282"/>
            <a:ext cx="2174041" cy="2165548"/>
            <a:chOff x="0" y="0"/>
            <a:chExt cx="6502400" cy="6477000"/>
          </a:xfrm>
        </p:grpSpPr>
        <p:sp>
          <p:nvSpPr>
            <p:cNvPr id="19" name="Freeform 19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5"/>
              <a:stretch>
                <a:fillRect l="-136837" t="-28774" r="-84967" b="-86469"/>
              </a:stretch>
            </a:blipFill>
            <a:ln>
              <a:solidFill>
                <a:srgbClr val="00BAFF"/>
              </a:solidFill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</p:spPr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1825797" y="4221947"/>
            <a:ext cx="2085137" cy="2085137"/>
            <a:chOff x="0" y="0"/>
            <a:chExt cx="635000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</p:spPr>
          <p:txBody>
            <a:bodyPr/>
            <a:lstStyle/>
            <a:p>
              <a:endParaRPr lang="en-AU" dirty="0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1411515" y="4002073"/>
            <a:ext cx="2187334" cy="2123082"/>
            <a:chOff x="-23042" y="66269"/>
            <a:chExt cx="6542158" cy="6349987"/>
          </a:xfrm>
        </p:grpSpPr>
        <p:sp>
          <p:nvSpPr>
            <p:cNvPr id="24" name="Freeform 24"/>
            <p:cNvSpPr/>
            <p:nvPr/>
          </p:nvSpPr>
          <p:spPr>
            <a:xfrm>
              <a:off x="-23042" y="119185"/>
              <a:ext cx="6542158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6"/>
              <a:stretch>
                <a:fillRect l="-162891" t="-16684" r="-160683" b="-166629"/>
              </a:stretch>
            </a:blipFill>
            <a:ln>
              <a:solidFill>
                <a:srgbClr val="00BAFF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</p:spPr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1513712" y="1462395"/>
            <a:ext cx="2085137" cy="2085137"/>
            <a:chOff x="0" y="0"/>
            <a:chExt cx="6350000" cy="6350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</p:spPr>
          <p:txBody>
            <a:bodyPr/>
            <a:lstStyle/>
            <a:p>
              <a:endParaRPr lang="en-AU" dirty="0"/>
            </a:p>
          </p:txBody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1226066" y="1361270"/>
            <a:ext cx="2174041" cy="2165548"/>
            <a:chOff x="0" y="0"/>
            <a:chExt cx="6502400" cy="6477000"/>
          </a:xfrm>
        </p:grpSpPr>
        <p:sp>
          <p:nvSpPr>
            <p:cNvPr id="29" name="Freeform 29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7"/>
              <a:stretch>
                <a:fillRect l="-164266" t="1917" r="-22903" b="-93994"/>
              </a:stretch>
            </a:blipFill>
            <a:ln>
              <a:solidFill>
                <a:srgbClr val="00BAFF"/>
              </a:solidFill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2670508" y="3331799"/>
            <a:ext cx="5612273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spc="-80" dirty="0">
                <a:solidFill>
                  <a:srgbClr val="000000"/>
                </a:solidFill>
                <a:latin typeface="Graphik Regular" panose="020B0503030202060203" pitchFamily="34" charset="0"/>
              </a:rPr>
              <a:t>The Analytics team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65AA9D-4854-48CD-887E-5E7A5AB56D7A}"/>
              </a:ext>
            </a:extLst>
          </p:cNvPr>
          <p:cNvSpPr txBox="1"/>
          <p:nvPr/>
        </p:nvSpPr>
        <p:spPr>
          <a:xfrm>
            <a:off x="14122703" y="7182074"/>
            <a:ext cx="36585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DM Sans" pitchFamily="2" charset="0"/>
              </a:rPr>
              <a:t>Ashreen Kaur(Data Analyst)</a:t>
            </a:r>
            <a:endParaRPr lang="en-IN" sz="2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86D1DE-11ED-DE2F-FC9F-3C54B7824371}"/>
              </a:ext>
            </a:extLst>
          </p:cNvPr>
          <p:cNvSpPr txBox="1"/>
          <p:nvPr/>
        </p:nvSpPr>
        <p:spPr>
          <a:xfrm>
            <a:off x="13910934" y="1762139"/>
            <a:ext cx="39778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DM Sans" pitchFamily="2" charset="0"/>
              </a:rPr>
              <a:t>Andrew Fleming (Chief Technical Architect)</a:t>
            </a:r>
            <a:endParaRPr lang="en-IN" sz="3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DDCCA1-1C7D-A1EF-5CB0-B72F6F62637D}"/>
              </a:ext>
            </a:extLst>
          </p:cNvPr>
          <p:cNvSpPr txBox="1"/>
          <p:nvPr/>
        </p:nvSpPr>
        <p:spPr>
          <a:xfrm>
            <a:off x="14122704" y="4586560"/>
            <a:ext cx="36585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0" i="0" dirty="0">
                <a:solidFill>
                  <a:srgbClr val="000000"/>
                </a:solidFill>
                <a:effectLst/>
                <a:latin typeface="DM Sans" pitchFamily="2" charset="0"/>
              </a:rPr>
              <a:t>Marcus </a:t>
            </a:r>
            <a:r>
              <a:rPr lang="en-IN" sz="2800" b="0" i="0" dirty="0" err="1">
                <a:solidFill>
                  <a:srgbClr val="000000"/>
                </a:solidFill>
                <a:effectLst/>
                <a:latin typeface="DM Sans" pitchFamily="2" charset="0"/>
              </a:rPr>
              <a:t>Rompton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DM Sans" pitchFamily="2" charset="0"/>
              </a:rPr>
              <a:t> (Senior Principle)</a:t>
            </a: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5296" y="406153"/>
            <a:ext cx="10042534" cy="9474693"/>
            <a:chOff x="0" y="0"/>
            <a:chExt cx="13390046" cy="1263292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10232"/>
            <a:stretch>
              <a:fillRect/>
            </a:stretch>
          </p:blipFill>
          <p:spPr>
            <a:xfrm>
              <a:off x="6923321" y="6558809"/>
              <a:ext cx="2697587" cy="279471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9838214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3279405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6558809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9838214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1903391" y="1027892"/>
            <a:ext cx="1854962" cy="1781248"/>
            <a:chOff x="0" y="0"/>
            <a:chExt cx="2473282" cy="2374997"/>
          </a:xfrm>
        </p:grpSpPr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3758754" y="2639980"/>
            <a:ext cx="1854962" cy="1781248"/>
            <a:chOff x="0" y="0"/>
            <a:chExt cx="2473282" cy="2374997"/>
          </a:xfrm>
        </p:grpSpPr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</p:sp>
        </p:grpSp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5614117" y="4252068"/>
            <a:ext cx="1854962" cy="1781248"/>
            <a:chOff x="0" y="0"/>
            <a:chExt cx="2473282" cy="2374997"/>
          </a:xfrm>
        </p:grpSpPr>
        <p:grpSp>
          <p:nvGrpSpPr>
            <p:cNvPr id="22" name="Group 22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</p:sp>
        </p:grpSp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25" name="Group 25"/>
          <p:cNvGrpSpPr/>
          <p:nvPr/>
        </p:nvGrpSpPr>
        <p:grpSpPr>
          <a:xfrm>
            <a:off x="7469480" y="5864156"/>
            <a:ext cx="1854962" cy="1781248"/>
            <a:chOff x="0" y="0"/>
            <a:chExt cx="2473282" cy="2374997"/>
          </a:xfrm>
        </p:grpSpPr>
        <p:grpSp>
          <p:nvGrpSpPr>
            <p:cNvPr id="26" name="Group 26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</p:sp>
        </p:grp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29" name="Group 29"/>
          <p:cNvGrpSpPr/>
          <p:nvPr/>
        </p:nvGrpSpPr>
        <p:grpSpPr>
          <a:xfrm>
            <a:off x="9324843" y="7476244"/>
            <a:ext cx="1854962" cy="1781248"/>
            <a:chOff x="0" y="0"/>
            <a:chExt cx="2473282" cy="2374997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</p:sp>
        </p:grpSp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sp>
        <p:nvSpPr>
          <p:cNvPr id="33" name="TextBox 33"/>
          <p:cNvSpPr txBox="1"/>
          <p:nvPr/>
        </p:nvSpPr>
        <p:spPr>
          <a:xfrm>
            <a:off x="10667818" y="1028700"/>
            <a:ext cx="6642545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Process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30944" y="1372359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34646" y="2984043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08223" y="7828620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>
                <a:solidFill>
                  <a:srgbClr val="FFFFFF"/>
                </a:solidFill>
                <a:latin typeface="Clear Sans Regular Bold"/>
              </a:rPr>
              <a:t>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193880" y="6204766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396750" y="4605252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62369A-1BB7-EC04-F720-9A57EE90CACC}"/>
              </a:ext>
            </a:extLst>
          </p:cNvPr>
          <p:cNvSpPr txBox="1"/>
          <p:nvPr/>
        </p:nvSpPr>
        <p:spPr>
          <a:xfrm>
            <a:off x="4114800" y="1165357"/>
            <a:ext cx="8763000" cy="766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930741-76CC-BF39-412A-6878CCA228AC}"/>
              </a:ext>
            </a:extLst>
          </p:cNvPr>
          <p:cNvSpPr txBox="1"/>
          <p:nvPr/>
        </p:nvSpPr>
        <p:spPr>
          <a:xfrm>
            <a:off x="4267200" y="1317757"/>
            <a:ext cx="876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DATA UNDERSTANDING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A8B0A0-5467-DDA1-0CEF-C180AA601CA0}"/>
              </a:ext>
            </a:extLst>
          </p:cNvPr>
          <p:cNvSpPr txBox="1"/>
          <p:nvPr/>
        </p:nvSpPr>
        <p:spPr>
          <a:xfrm>
            <a:off x="7626237" y="4700129"/>
            <a:ext cx="876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DATA MODELLING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EF30AB-414B-0ECC-F168-92B7FAEEA968}"/>
              </a:ext>
            </a:extLst>
          </p:cNvPr>
          <p:cNvSpPr txBox="1"/>
          <p:nvPr/>
        </p:nvSpPr>
        <p:spPr>
          <a:xfrm>
            <a:off x="5974121" y="2873945"/>
            <a:ext cx="876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DATA CLEANING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BE944B-5788-8868-9CE9-175752BB95F9}"/>
              </a:ext>
            </a:extLst>
          </p:cNvPr>
          <p:cNvSpPr txBox="1"/>
          <p:nvPr/>
        </p:nvSpPr>
        <p:spPr>
          <a:xfrm>
            <a:off x="9607590" y="6264374"/>
            <a:ext cx="876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DATA ANALYSIS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F450E5-CFE6-F580-81A3-4D9A93C3FB67}"/>
              </a:ext>
            </a:extLst>
          </p:cNvPr>
          <p:cNvSpPr txBox="1"/>
          <p:nvPr/>
        </p:nvSpPr>
        <p:spPr>
          <a:xfrm>
            <a:off x="11299610" y="7962031"/>
            <a:ext cx="876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DATA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2127159" y="6480806"/>
            <a:ext cx="2972219" cy="881758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860915"/>
            <a:ext cx="463612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-80" dirty="0">
                <a:solidFill>
                  <a:srgbClr val="000000"/>
                </a:solidFill>
                <a:latin typeface="Graphik Regular" panose="020B0503030202060203" pitchFamily="34" charset="0"/>
              </a:rPr>
              <a:t>Insights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17112" y="7810500"/>
            <a:ext cx="17253775" cy="2017079"/>
            <a:chOff x="0" y="0"/>
            <a:chExt cx="23005033" cy="2689439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272183" y="6480309"/>
            <a:ext cx="2972219" cy="881758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2670342" y="6480309"/>
            <a:ext cx="2972219" cy="8817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A52D4B4-A306-30AA-96F4-A3D90C723139}"/>
              </a:ext>
            </a:extLst>
          </p:cNvPr>
          <p:cNvSpPr txBox="1"/>
          <p:nvPr/>
        </p:nvSpPr>
        <p:spPr>
          <a:xfrm>
            <a:off x="1783878" y="4758779"/>
            <a:ext cx="37987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16 CATEGORIES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C470E5-AAE7-BB54-40E8-E617401AC9F1}"/>
              </a:ext>
            </a:extLst>
          </p:cNvPr>
          <p:cNvSpPr txBox="1"/>
          <p:nvPr/>
        </p:nvSpPr>
        <p:spPr>
          <a:xfrm>
            <a:off x="6553201" y="4569728"/>
            <a:ext cx="45176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TOP CATEGORY: ANIMALS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11EC86-7368-F5BC-EC4A-3E884722E156}"/>
              </a:ext>
            </a:extLst>
          </p:cNvPr>
          <p:cNvSpPr txBox="1"/>
          <p:nvPr/>
        </p:nvSpPr>
        <p:spPr>
          <a:xfrm>
            <a:off x="12168737" y="4569728"/>
            <a:ext cx="45176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3 Major Sentiments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213" y="9490985"/>
            <a:ext cx="17253775" cy="2017079"/>
            <a:chOff x="0" y="0"/>
            <a:chExt cx="23005033" cy="268943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1153642">
            <a:off x="979455" y="8814373"/>
            <a:ext cx="3545508" cy="3370302"/>
            <a:chOff x="0" y="0"/>
            <a:chExt cx="4727344" cy="4493736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55751" y="-710238"/>
            <a:ext cx="17253775" cy="2017079"/>
            <a:chOff x="0" y="0"/>
            <a:chExt cx="23005033" cy="268943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sp>
        <p:nvSpPr>
          <p:cNvPr id="22" name="AutoShape 22"/>
          <p:cNvSpPr/>
          <p:nvPr/>
        </p:nvSpPr>
        <p:spPr>
          <a:xfrm>
            <a:off x="0" y="0"/>
            <a:ext cx="2386482" cy="10287000"/>
          </a:xfrm>
          <a:prstGeom prst="rect">
            <a:avLst/>
          </a:prstGeom>
          <a:solidFill>
            <a:srgbClr val="A100FF"/>
          </a:solidFill>
        </p:spPr>
      </p:sp>
      <p:grpSp>
        <p:nvGrpSpPr>
          <p:cNvPr id="23" name="Group 23"/>
          <p:cNvGrpSpPr/>
          <p:nvPr/>
        </p:nvGrpSpPr>
        <p:grpSpPr>
          <a:xfrm>
            <a:off x="16515246" y="-1685151"/>
            <a:ext cx="3545508" cy="3370302"/>
            <a:chOff x="0" y="0"/>
            <a:chExt cx="4727344" cy="4493736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E3FBFAC0-F44A-C610-93AB-75392AC9F5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5400" y="1913997"/>
            <a:ext cx="9660493" cy="58143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213" y="9490985"/>
            <a:ext cx="17253775" cy="2017079"/>
            <a:chOff x="0" y="0"/>
            <a:chExt cx="23005033" cy="268943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1153642">
            <a:off x="979455" y="8814373"/>
            <a:ext cx="3545508" cy="3370302"/>
            <a:chOff x="0" y="0"/>
            <a:chExt cx="4727344" cy="4493736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55752" y="-1235382"/>
            <a:ext cx="17253775" cy="2017079"/>
            <a:chOff x="0" y="0"/>
            <a:chExt cx="23005033" cy="268943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sp>
        <p:nvSpPr>
          <p:cNvPr id="22" name="AutoShape 22"/>
          <p:cNvSpPr/>
          <p:nvPr/>
        </p:nvSpPr>
        <p:spPr>
          <a:xfrm>
            <a:off x="0" y="0"/>
            <a:ext cx="2386482" cy="10287000"/>
          </a:xfrm>
          <a:prstGeom prst="rect">
            <a:avLst/>
          </a:prstGeom>
          <a:solidFill>
            <a:srgbClr val="A100FF"/>
          </a:solidFill>
        </p:spPr>
      </p:sp>
      <p:grpSp>
        <p:nvGrpSpPr>
          <p:cNvPr id="23" name="Group 23"/>
          <p:cNvGrpSpPr/>
          <p:nvPr/>
        </p:nvGrpSpPr>
        <p:grpSpPr>
          <a:xfrm>
            <a:off x="16515246" y="-1685151"/>
            <a:ext cx="3545508" cy="3370302"/>
            <a:chOff x="0" y="0"/>
            <a:chExt cx="4727344" cy="4493736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67496AED-A5AA-6D3C-BEAD-A373AD18D0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4958227"/>
              </p:ext>
            </p:extLst>
          </p:nvPr>
        </p:nvGraphicFramePr>
        <p:xfrm>
          <a:off x="4879649" y="2781300"/>
          <a:ext cx="10055551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03AE9443-70FE-542C-069A-72B5B92A24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8803" y="1700150"/>
            <a:ext cx="9487175" cy="570999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8DD808C-6DAE-0B09-00D9-AF25B8A403B7}"/>
              </a:ext>
            </a:extLst>
          </p:cNvPr>
          <p:cNvSpPr txBox="1"/>
          <p:nvPr/>
        </p:nvSpPr>
        <p:spPr>
          <a:xfrm>
            <a:off x="6768494" y="7796476"/>
            <a:ext cx="67608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POPULARITY PERCENTAGE</a:t>
            </a:r>
          </a:p>
          <a:p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453851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213" y="9490985"/>
            <a:ext cx="17253775" cy="2017079"/>
            <a:chOff x="0" y="0"/>
            <a:chExt cx="23005033" cy="268943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1153642">
            <a:off x="979455" y="8814373"/>
            <a:ext cx="3545508" cy="3370302"/>
            <a:chOff x="0" y="0"/>
            <a:chExt cx="4727344" cy="4493736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55752" y="-1235382"/>
            <a:ext cx="17253775" cy="2017079"/>
            <a:chOff x="0" y="0"/>
            <a:chExt cx="23005033" cy="268943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sp>
        <p:nvSpPr>
          <p:cNvPr id="22" name="AutoShape 22"/>
          <p:cNvSpPr/>
          <p:nvPr/>
        </p:nvSpPr>
        <p:spPr>
          <a:xfrm>
            <a:off x="0" y="0"/>
            <a:ext cx="2386482" cy="10287000"/>
          </a:xfrm>
          <a:prstGeom prst="rect">
            <a:avLst/>
          </a:prstGeom>
          <a:solidFill>
            <a:srgbClr val="A100FF"/>
          </a:solidFill>
        </p:spPr>
      </p:sp>
      <p:grpSp>
        <p:nvGrpSpPr>
          <p:cNvPr id="23" name="Group 23"/>
          <p:cNvGrpSpPr/>
          <p:nvPr/>
        </p:nvGrpSpPr>
        <p:grpSpPr>
          <a:xfrm>
            <a:off x="16515246" y="-1685151"/>
            <a:ext cx="3545508" cy="3370302"/>
            <a:chOff x="0" y="0"/>
            <a:chExt cx="4727344" cy="4493736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67496AED-A5AA-6D3C-BEAD-A373AD18D07B}"/>
              </a:ext>
            </a:extLst>
          </p:cNvPr>
          <p:cNvGraphicFramePr>
            <a:graphicFrameLocks/>
          </p:cNvGraphicFramePr>
          <p:nvPr/>
        </p:nvGraphicFramePr>
        <p:xfrm>
          <a:off x="4879649" y="2781300"/>
          <a:ext cx="10055551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id="{45598BBE-C438-B91C-C7E0-DE9800609C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9915" y="2435620"/>
            <a:ext cx="9064951" cy="545586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F9A4D4E-061D-83DF-9C29-75454B155507}"/>
              </a:ext>
            </a:extLst>
          </p:cNvPr>
          <p:cNvSpPr txBox="1"/>
          <p:nvPr/>
        </p:nvSpPr>
        <p:spPr>
          <a:xfrm>
            <a:off x="4879650" y="1319394"/>
            <a:ext cx="9345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/>
              <a:t>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4201650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10143618" y="5003701"/>
            <a:ext cx="942466" cy="279598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10143618" y="2227332"/>
            <a:ext cx="942466" cy="279598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10143618" y="7780070"/>
            <a:ext cx="942466" cy="279598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 l="4069" t="1617" r="4069" b="1617"/>
          <a:stretch>
            <a:fillRect/>
          </a:stretch>
        </p:blipFill>
        <p:spPr>
          <a:xfrm>
            <a:off x="5438298" y="1161805"/>
            <a:ext cx="5036754" cy="796339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57200" y="4539600"/>
            <a:ext cx="470355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-80" dirty="0">
                <a:solidFill>
                  <a:srgbClr val="000000"/>
                </a:solidFill>
                <a:latin typeface="Graphik Regular" panose="020B0503030202060203" pitchFamily="34" charset="0"/>
              </a:rPr>
              <a:t>Summary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27032" y="9481425"/>
            <a:ext cx="9711338" cy="2017079"/>
            <a:chOff x="0" y="0"/>
            <a:chExt cx="12948451" cy="2689439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327032" y="-1179605"/>
            <a:ext cx="9711338" cy="2017079"/>
            <a:chOff x="0" y="0"/>
            <a:chExt cx="12948451" cy="2689439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20" name="Group 11">
            <a:extLst>
              <a:ext uri="{FF2B5EF4-FFF2-40B4-BE49-F238E27FC236}">
                <a16:creationId xmlns:a16="http://schemas.microsoft.com/office/drawing/2014/main" id="{C00ABEC5-EF3F-4E3E-827E-EB1F2EF17C0D}"/>
              </a:ext>
            </a:extLst>
          </p:cNvPr>
          <p:cNvGrpSpPr/>
          <p:nvPr/>
        </p:nvGrpSpPr>
        <p:grpSpPr>
          <a:xfrm>
            <a:off x="11581833" y="1580430"/>
            <a:ext cx="5677467" cy="867617"/>
            <a:chOff x="0" y="-47625"/>
            <a:chExt cx="7569956" cy="1156823"/>
          </a:xfrm>
        </p:grpSpPr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19A1BE45-8301-44C6-A0D0-F8FDA800622F}"/>
                </a:ext>
              </a:extLst>
            </p:cNvPr>
            <p:cNvSpPr txBox="1"/>
            <p:nvPr/>
          </p:nvSpPr>
          <p:spPr>
            <a:xfrm>
              <a:off x="0" y="691990"/>
              <a:ext cx="7569956" cy="417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60"/>
                </a:lnSpc>
              </a:pPr>
              <a:endParaRPr lang="en-US" sz="1900" spc="-19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22" name="TextBox 13">
              <a:extLst>
                <a:ext uri="{FF2B5EF4-FFF2-40B4-BE49-F238E27FC236}">
                  <a16:creationId xmlns:a16="http://schemas.microsoft.com/office/drawing/2014/main" id="{3DAE5247-0244-4123-A713-8D8809E80C70}"/>
                </a:ext>
              </a:extLst>
            </p:cNvPr>
            <p:cNvSpPr txBox="1"/>
            <p:nvPr/>
          </p:nvSpPr>
          <p:spPr>
            <a:xfrm>
              <a:off x="0" y="-47625"/>
              <a:ext cx="7569956" cy="451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endParaRPr lang="en-US" sz="2100" spc="-21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</p:grpSp>
      <p:grpSp>
        <p:nvGrpSpPr>
          <p:cNvPr id="23" name="Group 14">
            <a:extLst>
              <a:ext uri="{FF2B5EF4-FFF2-40B4-BE49-F238E27FC236}">
                <a16:creationId xmlns:a16="http://schemas.microsoft.com/office/drawing/2014/main" id="{F49CBA38-C879-499F-B0F5-691188949921}"/>
              </a:ext>
            </a:extLst>
          </p:cNvPr>
          <p:cNvGrpSpPr/>
          <p:nvPr/>
        </p:nvGrpSpPr>
        <p:grpSpPr>
          <a:xfrm>
            <a:off x="11581833" y="6964868"/>
            <a:ext cx="5677467" cy="867617"/>
            <a:chOff x="0" y="-47625"/>
            <a:chExt cx="7569956" cy="1156823"/>
          </a:xfrm>
        </p:grpSpPr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3A90234A-916B-4C29-ACF1-11F97E8C2563}"/>
                </a:ext>
              </a:extLst>
            </p:cNvPr>
            <p:cNvSpPr txBox="1"/>
            <p:nvPr/>
          </p:nvSpPr>
          <p:spPr>
            <a:xfrm>
              <a:off x="0" y="691990"/>
              <a:ext cx="7569956" cy="417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60"/>
                </a:lnSpc>
              </a:pPr>
              <a:endParaRPr lang="en-US" sz="1900" spc="-19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E1CF9388-A25B-45EF-AAD4-73FE2BA72053}"/>
                </a:ext>
              </a:extLst>
            </p:cNvPr>
            <p:cNvSpPr txBox="1"/>
            <p:nvPr/>
          </p:nvSpPr>
          <p:spPr>
            <a:xfrm>
              <a:off x="0" y="-47625"/>
              <a:ext cx="7569956" cy="451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endParaRPr lang="en-US" sz="2100" spc="-21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C0AE8E8-C276-249D-F77A-BE8F985A6371}"/>
              </a:ext>
            </a:extLst>
          </p:cNvPr>
          <p:cNvSpPr txBox="1"/>
          <p:nvPr/>
        </p:nvSpPr>
        <p:spPr>
          <a:xfrm>
            <a:off x="11277600" y="1333500"/>
            <a:ext cx="6324600" cy="815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Top five categories are:</a:t>
            </a:r>
          </a:p>
          <a:p>
            <a:pPr algn="ctr"/>
            <a:r>
              <a:rPr lang="en-IN" sz="3200" dirty="0"/>
              <a:t>ANIMALS</a:t>
            </a:r>
          </a:p>
          <a:p>
            <a:pPr algn="ctr"/>
            <a:r>
              <a:rPr lang="en-IN" sz="3200" dirty="0"/>
              <a:t>SCIENCE</a:t>
            </a:r>
          </a:p>
          <a:p>
            <a:pPr algn="ctr"/>
            <a:r>
              <a:rPr lang="en-IN" sz="3200" dirty="0"/>
              <a:t>HEALTHY EATING</a:t>
            </a:r>
          </a:p>
          <a:p>
            <a:pPr algn="ctr"/>
            <a:r>
              <a:rPr lang="en-IN" sz="3200" dirty="0"/>
              <a:t>TECHNOLOGY</a:t>
            </a:r>
          </a:p>
          <a:p>
            <a:pPr algn="ctr"/>
            <a:r>
              <a:rPr lang="en-IN" sz="3200" dirty="0"/>
              <a:t>FOOD</a:t>
            </a:r>
          </a:p>
          <a:p>
            <a:pPr algn="ctr"/>
            <a:endParaRPr lang="en-IN" sz="32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3200" dirty="0"/>
              <a:t>This gives us an idea about what content people want to watch.</a:t>
            </a:r>
          </a:p>
          <a:p>
            <a:endParaRPr lang="en-IN" sz="32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3200" dirty="0"/>
              <a:t>Healthy eating and food both being top 5 indicate that people are enthusiastic about what they put in their body.</a:t>
            </a:r>
          </a:p>
          <a:p>
            <a:endParaRPr lang="en-IN" sz="3600" dirty="0"/>
          </a:p>
          <a:p>
            <a:pPr marL="742950" indent="-742950">
              <a:buFont typeface="+mj-lt"/>
              <a:buAutoNum type="arabicPeriod"/>
            </a:pPr>
            <a:endParaRPr lang="en-IN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21913" y="5552246"/>
            <a:ext cx="5385738" cy="412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 spc="-26" dirty="0">
                <a:solidFill>
                  <a:srgbClr val="FFFFFF"/>
                </a:solidFill>
                <a:latin typeface="Graphik Regular" panose="020B0503030202060203" pitchFamily="34" charset="0"/>
              </a:rPr>
              <a:t>ANY QUESTIONS?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28428" y="3599225"/>
            <a:ext cx="3546595" cy="3371248"/>
            <a:chOff x="0" y="0"/>
            <a:chExt cx="4728794" cy="4494997"/>
          </a:xfrm>
        </p:grpSpPr>
        <p:grpSp>
          <p:nvGrpSpPr>
            <p:cNvPr id="4" name="Group 4"/>
            <p:cNvGrpSpPr>
              <a:grpSpLocks noChangeAspect="1"/>
            </p:cNvGrpSpPr>
            <p:nvPr/>
          </p:nvGrpSpPr>
          <p:grpSpPr>
            <a:xfrm>
              <a:off x="782946" y="549149"/>
              <a:ext cx="3945848" cy="3945848"/>
              <a:chOff x="0" y="0"/>
              <a:chExt cx="6350000" cy="6350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160550" y="152500"/>
              <a:ext cx="3945848" cy="3954260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4669076" y="4178375"/>
            <a:ext cx="572982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Thank you!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17113" y="-1140306"/>
            <a:ext cx="17253775" cy="2017079"/>
            <a:chOff x="0" y="0"/>
            <a:chExt cx="23005033" cy="2689439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517113" y="9394369"/>
            <a:ext cx="17253775" cy="2017079"/>
            <a:chOff x="0" y="0"/>
            <a:chExt cx="23005033" cy="2689439"/>
          </a:xfrm>
        </p:grpSpPr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1152</TotalTime>
  <Words>216</Words>
  <Application>Microsoft Office PowerPoint</Application>
  <PresentationFormat>Custom</PresentationFormat>
  <Paragraphs>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Clear Sans Regular Bold</vt:lpstr>
      <vt:lpstr>Arial</vt:lpstr>
      <vt:lpstr>Calibri</vt:lpstr>
      <vt:lpstr>DM Sans</vt:lpstr>
      <vt:lpstr>Graphik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creator>Kevin Dang</dc:creator>
  <cp:lastModifiedBy>Ashreen Kaur Sodhi</cp:lastModifiedBy>
  <cp:revision>10</cp:revision>
  <dcterms:created xsi:type="dcterms:W3CDTF">2006-08-16T00:00:00Z</dcterms:created>
  <dcterms:modified xsi:type="dcterms:W3CDTF">2024-09-06T09:59:58Z</dcterms:modified>
  <dc:identifier>DAEhDyfaYKE</dc:identifier>
</cp:coreProperties>
</file>